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5" r:id="rId8"/>
    <p:sldId id="266" r:id="rId9"/>
    <p:sldId id="267" r:id="rId10"/>
    <p:sldId id="270" r:id="rId11"/>
    <p:sldId id="271" r:id="rId12"/>
    <p:sldId id="269" r:id="rId13"/>
    <p:sldId id="268"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5" d="100"/>
          <a:sy n="75" d="100"/>
        </p:scale>
        <p:origin x="73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B673A-0CC8-4B0C-A117-B45D9ABC7A86}" type="datetimeFigureOut">
              <a:rPr lang="en-IN" smtClean="0"/>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18F47-596D-4F18-9E20-A9759B73DAEC}" type="slidenum">
              <a:rPr lang="en-IN" smtClean="0"/>
              <a:t>‹#›</a:t>
            </a:fld>
            <a:endParaRPr lang="en-IN"/>
          </a:p>
        </p:txBody>
      </p:sp>
    </p:spTree>
    <p:extLst>
      <p:ext uri="{BB962C8B-B14F-4D97-AF65-F5344CB8AC3E}">
        <p14:creationId xmlns:p14="http://schemas.microsoft.com/office/powerpoint/2010/main" val="414580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1</a:t>
            </a:fld>
            <a:endParaRPr lang="en-IN"/>
          </a:p>
        </p:txBody>
      </p:sp>
    </p:spTree>
    <p:extLst>
      <p:ext uri="{BB962C8B-B14F-4D97-AF65-F5344CB8AC3E}">
        <p14:creationId xmlns:p14="http://schemas.microsoft.com/office/powerpoint/2010/main" val="3054861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3</a:t>
            </a:fld>
            <a:endParaRPr lang="en-IN"/>
          </a:p>
        </p:txBody>
      </p:sp>
    </p:spTree>
    <p:extLst>
      <p:ext uri="{BB962C8B-B14F-4D97-AF65-F5344CB8AC3E}">
        <p14:creationId xmlns:p14="http://schemas.microsoft.com/office/powerpoint/2010/main" val="196125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5</a:t>
            </a:fld>
            <a:endParaRPr lang="en-IN"/>
          </a:p>
        </p:txBody>
      </p:sp>
    </p:spTree>
    <p:extLst>
      <p:ext uri="{BB962C8B-B14F-4D97-AF65-F5344CB8AC3E}">
        <p14:creationId xmlns:p14="http://schemas.microsoft.com/office/powerpoint/2010/main" val="3504755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0AB-FA10-D99C-4358-AF017EEFD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2C4825-6E51-B34B-4BBB-19133572A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05E000-1FB1-4283-8E83-F7BAD81B48B8}"/>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D1C1651A-2EDC-9074-ABF5-A89C7839C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E9A3E-24DF-11BF-620F-8D7663229557}"/>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267488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D920-AF73-CC93-37DA-B1D1665A4F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AE50C5-F51D-765F-B558-3D888B6F1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BEFBD-AD79-97B5-F893-F859D27CC05C}"/>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3CBF6232-4F91-EEA6-0545-49261081B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C0069-522C-1143-9115-08B38E49CD34}"/>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623975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1EDA-AB89-1136-067B-FB69EFB9E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C776B1-8697-9CFA-AD6F-5F592CB35D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C774AC-154B-0AE2-F1C7-766F417942C9}"/>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CC7B3C0B-FF4F-59FB-53AF-0780B45446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438B4-0986-8C61-5F59-85AE5F199D75}"/>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9511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0F89-5EC6-0E67-C163-73258CA44E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556236-B9D6-1BC1-E70C-CD80D62741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B43837-62E6-DB07-21E7-6BF8F3745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464AFE-C196-833E-95F3-A4E5E0121E84}"/>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6" name="Footer Placeholder 5">
            <a:extLst>
              <a:ext uri="{FF2B5EF4-FFF2-40B4-BE49-F238E27FC236}">
                <a16:creationId xmlns:a16="http://schemas.microsoft.com/office/drawing/2014/main" id="{D63BEEA8-60BC-99A1-469C-3A1088738D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707821-3CBE-5BA1-D39F-EB588DCB2352}"/>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032885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1C76-E26A-B0E6-303D-A753941C27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EC91FD-F7A6-A3E7-EAEA-740ED9254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5F39EE-BBB9-D440-9F43-FA344FE357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D2CF0E-20E6-B282-4427-836C02531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32FF0A-DCEE-1446-D9B7-52DE2555A2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4E2A11-5C2D-6AF4-3F18-0A868117BF54}"/>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8" name="Footer Placeholder 7">
            <a:extLst>
              <a:ext uri="{FF2B5EF4-FFF2-40B4-BE49-F238E27FC236}">
                <a16:creationId xmlns:a16="http://schemas.microsoft.com/office/drawing/2014/main" id="{92968814-1ABD-CCE9-516B-B7E0C542D7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4D73A2-2F41-C140-DC18-00F87ABF63BB}"/>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2252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5DE0-2A79-F1CC-7AD2-286142268E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64E14E-68A9-C932-9BDD-065C5BAB168B}"/>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4" name="Footer Placeholder 3">
            <a:extLst>
              <a:ext uri="{FF2B5EF4-FFF2-40B4-BE49-F238E27FC236}">
                <a16:creationId xmlns:a16="http://schemas.microsoft.com/office/drawing/2014/main" id="{A19DE9D4-92FB-3F87-E33D-FE40164BC3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51BC7B-C564-2161-91AB-034C88D79959}"/>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76205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D2813-03C1-66C5-C78A-8947BC9D83AB}"/>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3" name="Footer Placeholder 2">
            <a:extLst>
              <a:ext uri="{FF2B5EF4-FFF2-40B4-BE49-F238E27FC236}">
                <a16:creationId xmlns:a16="http://schemas.microsoft.com/office/drawing/2014/main" id="{10465555-2BFE-D825-3C67-BEB8A01779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8FE1DD-349E-93B9-C945-5738E74FD1E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53873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132-F86E-04F6-39CA-747F9E0C0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BD5639-DA07-4763-4484-F7CD4F483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67802B-26EA-A8AD-8254-BA6FC828E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E59AC-CEDB-68E8-9349-23524AEB4C5B}"/>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6" name="Footer Placeholder 5">
            <a:extLst>
              <a:ext uri="{FF2B5EF4-FFF2-40B4-BE49-F238E27FC236}">
                <a16:creationId xmlns:a16="http://schemas.microsoft.com/office/drawing/2014/main" id="{039020A5-CF27-C986-AA42-B5B9A9D703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AA6B7-85EE-69AF-9795-4418211FEE8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37147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0E39-866F-6964-E6F4-06B7FA334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20E954-CA5E-836F-8E29-705F994146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4DEC4B-E056-6EEC-7FA8-F94ACB1C1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31F01-8DB0-DEAD-1DEE-7839D1A51E6B}"/>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6" name="Footer Placeholder 5">
            <a:extLst>
              <a:ext uri="{FF2B5EF4-FFF2-40B4-BE49-F238E27FC236}">
                <a16:creationId xmlns:a16="http://schemas.microsoft.com/office/drawing/2014/main" id="{DD083FAA-BF90-19E4-ED3D-7D95AE9456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6D6557-3696-1BF6-1060-DF5172E12066}"/>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87853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5379-4FB2-BCD4-211D-5715150B82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9C7E1D-471F-1C64-2081-8DBEC0FA67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474DA9-670B-D3EB-8797-336CC0BF6C8A}"/>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F903E3C6-8A46-CBA0-6655-76E6E85B8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04F2E-E9EC-F767-467A-43EF283CADB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19922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9E1F-74F0-F492-0C56-1E18B532B2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06D0F0-AF88-4BE6-B0D9-2DA550D4E1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8C2CC-502D-F59C-4657-9219220F8D64}"/>
              </a:ext>
            </a:extLst>
          </p:cNvPr>
          <p:cNvSpPr>
            <a:spLocks noGrp="1"/>
          </p:cNvSpPr>
          <p:nvPr>
            <p:ph type="dt" sz="half" idx="10"/>
          </p:nvPr>
        </p:nvSpPr>
        <p:spPr/>
        <p:txBody>
          <a:body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0477221C-9A34-9A6E-FEAD-A3F44C0FA0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D9FB6-A8B1-43B2-975C-BB5CE51DC04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31997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EB172-18F4-C701-5F3E-2D69219E7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16200D-7512-ED2C-1DC8-9745F62E7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4625B-5FC1-AD4A-7E06-A2EB8BED8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6FF054-CB2C-4C33-B2EF-2587FECE78FF}" type="datetimeFigureOut">
              <a:rPr lang="en-IN" smtClean="0"/>
              <a:t>25-07-2026</a:t>
            </a:fld>
            <a:endParaRPr lang="en-IN"/>
          </a:p>
        </p:txBody>
      </p:sp>
      <p:sp>
        <p:nvSpPr>
          <p:cNvPr id="5" name="Footer Placeholder 4">
            <a:extLst>
              <a:ext uri="{FF2B5EF4-FFF2-40B4-BE49-F238E27FC236}">
                <a16:creationId xmlns:a16="http://schemas.microsoft.com/office/drawing/2014/main" id="{8890D408-E5E5-D3E1-D737-F0D60ADC36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9B12A1-FC78-CA69-70A0-89EC890FA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66ADF2-3A2F-473A-8DA4-A14AD54B0A86}" type="slidenum">
              <a:rPr lang="en-IN" smtClean="0"/>
              <a:t>‹#›</a:t>
            </a:fld>
            <a:endParaRPr lang="en-IN"/>
          </a:p>
        </p:txBody>
      </p:sp>
    </p:spTree>
    <p:extLst>
      <p:ext uri="{BB962C8B-B14F-4D97-AF65-F5344CB8AC3E}">
        <p14:creationId xmlns:p14="http://schemas.microsoft.com/office/powerpoint/2010/main" val="2992341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FC1EFD-28BD-68E6-A1D6-6ADFB2685E3B}"/>
              </a:ext>
            </a:extLst>
          </p:cNvPr>
          <p:cNvSpPr txBox="1"/>
          <p:nvPr/>
        </p:nvSpPr>
        <p:spPr>
          <a:xfrm>
            <a:off x="213360" y="2015003"/>
            <a:ext cx="11399520" cy="1200329"/>
          </a:xfrm>
          <a:prstGeom prst="rect">
            <a:avLst/>
          </a:prstGeom>
          <a:noFill/>
        </p:spPr>
        <p:txBody>
          <a:bodyPr wrap="square">
            <a:spAutoFit/>
          </a:bodyPr>
          <a:lstStyle/>
          <a:p>
            <a:pPr algn="ctr" fontAlgn="b"/>
            <a:r>
              <a:rPr lang="en-US" sz="3600" dirty="0">
                <a:solidFill>
                  <a:srgbClr val="FF0000"/>
                </a:solidFill>
                <a:latin typeface="Times New Roman" panose="02020603050405020304" pitchFamily="18" charset="0"/>
                <a:cs typeface="Times New Roman" panose="02020603050405020304" pitchFamily="18" charset="0"/>
              </a:rPr>
              <a:t>NutriSmart AI: Personalized Nutrition, Recipe Recommendation, and Budget Meal Planning</a:t>
            </a:r>
            <a:endParaRPr lang="en-IN" sz="3600" dirty="0">
              <a:solidFill>
                <a:srgbClr val="FF0000"/>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21BF0FD-5225-6115-8465-7F742F7988D6}"/>
              </a:ext>
            </a:extLst>
          </p:cNvPr>
          <p:cNvSpPr txBox="1"/>
          <p:nvPr/>
        </p:nvSpPr>
        <p:spPr>
          <a:xfrm>
            <a:off x="2682240" y="3429000"/>
            <a:ext cx="667512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CSA4305-Internet Programming</a:t>
            </a:r>
          </a:p>
        </p:txBody>
      </p:sp>
      <p:pic>
        <p:nvPicPr>
          <p:cNvPr id="8" name="Picture 2" descr="SSE-Computer Science and Engineering">
            <a:extLst>
              <a:ext uri="{FF2B5EF4-FFF2-40B4-BE49-F238E27FC236}">
                <a16:creationId xmlns:a16="http://schemas.microsoft.com/office/drawing/2014/main" id="{9CB3D297-A0A9-0E60-61EE-6154729FA9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0" y="309230"/>
            <a:ext cx="10953135" cy="11602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21A68BF-7EF5-08E9-DBB4-86CC2E12F2C1}"/>
              </a:ext>
            </a:extLst>
          </p:cNvPr>
          <p:cNvSpPr txBox="1"/>
          <p:nvPr/>
        </p:nvSpPr>
        <p:spPr>
          <a:xfrm>
            <a:off x="792480" y="4525748"/>
            <a:ext cx="3779520" cy="1289071"/>
          </a:xfrm>
          <a:prstGeom prst="rect">
            <a:avLst/>
          </a:prstGeom>
          <a:noFill/>
        </p:spPr>
        <p:txBody>
          <a:bodyPr wrap="square" rtlCol="0">
            <a:spAutoFit/>
          </a:bodyPr>
          <a:lstStyle/>
          <a:p>
            <a:pPr>
              <a:lnSpc>
                <a:spcPct val="150000"/>
              </a:lnSpc>
            </a:pPr>
            <a:r>
              <a:rPr lang="en-IN" b="1" dirty="0">
                <a:solidFill>
                  <a:srgbClr val="FF0000"/>
                </a:solidFill>
                <a:latin typeface="Times New Roman" panose="02020603050405020304" pitchFamily="18" charset="0"/>
                <a:cs typeface="Times New Roman" panose="02020603050405020304" pitchFamily="18" charset="0"/>
              </a:rPr>
              <a:t>Faculty:</a:t>
            </a:r>
          </a:p>
          <a:p>
            <a:pPr>
              <a:lnSpc>
                <a:spcPct val="150000"/>
              </a:lnSpc>
            </a:pPr>
            <a:r>
              <a:rPr lang="en-IN" dirty="0">
                <a:latin typeface="Times New Roman" panose="02020603050405020304" pitchFamily="18" charset="0"/>
                <a:cs typeface="Times New Roman" panose="02020603050405020304" pitchFamily="18" charset="0"/>
              </a:rPr>
              <a:t>Dr D Sudhagar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Saveetha School Of Engineering</a:t>
            </a:r>
          </a:p>
        </p:txBody>
      </p:sp>
      <p:sp>
        <p:nvSpPr>
          <p:cNvPr id="10" name="TextBox 9">
            <a:extLst>
              <a:ext uri="{FF2B5EF4-FFF2-40B4-BE49-F238E27FC236}">
                <a16:creationId xmlns:a16="http://schemas.microsoft.com/office/drawing/2014/main" id="{BEC412DD-ED22-ED25-9A2A-8EB71F69AA21}"/>
              </a:ext>
            </a:extLst>
          </p:cNvPr>
          <p:cNvSpPr txBox="1"/>
          <p:nvPr/>
        </p:nvSpPr>
        <p:spPr>
          <a:xfrm>
            <a:off x="9278620" y="4104333"/>
            <a:ext cx="6111240" cy="2951064"/>
          </a:xfrm>
          <a:prstGeom prst="rect">
            <a:avLst/>
          </a:prstGeom>
          <a:noFill/>
        </p:spPr>
        <p:txBody>
          <a:bodyPr wrap="square" rtlCol="0">
            <a:spAutoFit/>
          </a:bodyPr>
          <a:lstStyle/>
          <a:p>
            <a:pPr>
              <a:lnSpc>
                <a:spcPct val="150000"/>
              </a:lnSpc>
            </a:pPr>
            <a:r>
              <a:rPr lang="en-IN" b="1" dirty="0">
                <a:solidFill>
                  <a:srgbClr val="FF0000"/>
                </a:solidFill>
                <a:latin typeface="Times New Roman" panose="02020603050405020304" pitchFamily="18" charset="0"/>
                <a:cs typeface="Times New Roman" panose="02020603050405020304" pitchFamily="18" charset="0"/>
              </a:rPr>
              <a:t>Presented by:</a:t>
            </a:r>
            <a:br>
              <a:rPr lang="en-IN" b="1" dirty="0">
                <a:solidFill>
                  <a:srgbClr val="FF000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 Gnaneswari</a:t>
            </a:r>
          </a:p>
          <a:p>
            <a:pPr>
              <a:lnSpc>
                <a:spcPct val="150000"/>
              </a:lnSpc>
            </a:pPr>
            <a:r>
              <a:rPr lang="en-IN" dirty="0">
                <a:latin typeface="Times New Roman" panose="02020603050405020304" pitchFamily="18" charset="0"/>
                <a:cs typeface="Times New Roman" panose="02020603050405020304" pitchFamily="18" charset="0"/>
              </a:rPr>
              <a:t>P Madhavi</a:t>
            </a:r>
          </a:p>
          <a:p>
            <a:pPr>
              <a:lnSpc>
                <a:spcPct val="150000"/>
              </a:lnSpc>
            </a:pPr>
            <a:r>
              <a:rPr lang="en-IN" dirty="0">
                <a:latin typeface="Times New Roman" panose="02020603050405020304" pitchFamily="18" charset="0"/>
                <a:cs typeface="Times New Roman" panose="02020603050405020304" pitchFamily="18" charset="0"/>
              </a:rPr>
              <a:t>M Ramya </a:t>
            </a:r>
            <a:r>
              <a:rPr lang="en-IN" dirty="0" err="1">
                <a:latin typeface="Times New Roman" panose="02020603050405020304" pitchFamily="18" charset="0"/>
                <a:cs typeface="Times New Roman" panose="02020603050405020304" pitchFamily="18" charset="0"/>
              </a:rPr>
              <a:t>sri</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V Dharani</a:t>
            </a:r>
          </a:p>
          <a:p>
            <a:pPr>
              <a:lnSpc>
                <a:spcPct val="150000"/>
              </a:lnSpc>
            </a:pPr>
            <a:r>
              <a:rPr lang="en-IN" dirty="0">
                <a:latin typeface="Times New Roman" panose="02020603050405020304" pitchFamily="18" charset="0"/>
                <a:cs typeface="Times New Roman" panose="02020603050405020304" pitchFamily="18" charset="0"/>
              </a:rPr>
              <a:t>P V </a:t>
            </a:r>
            <a:r>
              <a:rPr lang="en-IN" dirty="0" err="1">
                <a:latin typeface="Times New Roman" panose="02020603050405020304" pitchFamily="18" charset="0"/>
                <a:cs typeface="Times New Roman" panose="02020603050405020304" pitchFamily="18" charset="0"/>
              </a:rPr>
              <a:t>Prakalya</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41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24724F-0392-EFD7-BD83-DF1AB9B2316C}"/>
              </a:ext>
            </a:extLst>
          </p:cNvPr>
          <p:cNvSpPr txBox="1"/>
          <p:nvPr/>
        </p:nvSpPr>
        <p:spPr>
          <a:xfrm>
            <a:off x="4715510" y="41233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ABSTRACT</a:t>
            </a:r>
          </a:p>
        </p:txBody>
      </p:sp>
      <p:pic>
        <p:nvPicPr>
          <p:cNvPr id="2" name="Picture 1">
            <a:extLst>
              <a:ext uri="{FF2B5EF4-FFF2-40B4-BE49-F238E27FC236}">
                <a16:creationId xmlns:a16="http://schemas.microsoft.com/office/drawing/2014/main" id="{83F15FB9-57C5-F5C3-01FA-FF4D4D0FF97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908EF55C-6340-BDE3-497A-3D96A78AC7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8" name="TextBox 7">
            <a:extLst>
              <a:ext uri="{FF2B5EF4-FFF2-40B4-BE49-F238E27FC236}">
                <a16:creationId xmlns:a16="http://schemas.microsoft.com/office/drawing/2014/main" id="{1F67AF5D-A789-D57E-1F19-0467252E6694}"/>
              </a:ext>
            </a:extLst>
          </p:cNvPr>
          <p:cNvSpPr txBox="1"/>
          <p:nvPr/>
        </p:nvSpPr>
        <p:spPr>
          <a:xfrm>
            <a:off x="113030" y="1453777"/>
            <a:ext cx="7650480" cy="54440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AI-Based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is a personalized nutrition and meal-planning application designed to help users maintain healthy eating habits.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collects user details such as age, gender, height, weight, activity level, health condition, dietary preference, fitness goal, allergies, and food budget.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Using artificial intelligence, the system generates personalized daily and weekly meal plans based on the user’s nutritional requirements.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also recommends recipes using the ingredients available to the user and provides estimated calories, nutrients, cooking time, and meal cost.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includes budget-based meal planning, health and nutrition analytics, meal reminders, progress monitoring, and feedback collection.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main objective of the system is to make healthy eating personalized, affordable, simple, and accessible.</a:t>
            </a:r>
          </a:p>
        </p:txBody>
      </p:sp>
      <p:pic>
        <p:nvPicPr>
          <p:cNvPr id="10" name="Picture 4">
            <a:extLst>
              <a:ext uri="{FF2B5EF4-FFF2-40B4-BE49-F238E27FC236}">
                <a16:creationId xmlns:a16="http://schemas.microsoft.com/office/drawing/2014/main" id="{98024BBB-1E5E-894F-4538-B7803E227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4640" y="1656080"/>
            <a:ext cx="4175759" cy="5071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74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F9FDC-9B94-4D6A-1750-84B924ABAB17}"/>
              </a:ext>
            </a:extLst>
          </p:cNvPr>
          <p:cNvSpPr txBox="1"/>
          <p:nvPr/>
        </p:nvSpPr>
        <p:spPr>
          <a:xfrm>
            <a:off x="2885440" y="328414"/>
            <a:ext cx="6096000" cy="646331"/>
          </a:xfrm>
          <a:prstGeom prst="rect">
            <a:avLst/>
          </a:prstGeom>
          <a:noFill/>
        </p:spPr>
        <p:txBody>
          <a:bodyPr wrap="square">
            <a:spAutoFit/>
          </a:bodyPr>
          <a:lstStyle/>
          <a:p>
            <a:pPr algn="ctr"/>
            <a:r>
              <a:rPr lang="en-IN" sz="3600" dirty="0">
                <a:solidFill>
                  <a:srgbClr val="FF0000"/>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0D54176-340E-A7FF-AE2A-4F2261161D4D}"/>
              </a:ext>
            </a:extLst>
          </p:cNvPr>
          <p:cNvSpPr txBox="1"/>
          <p:nvPr/>
        </p:nvSpPr>
        <p:spPr>
          <a:xfrm>
            <a:off x="942340" y="1501030"/>
            <a:ext cx="9982200" cy="50285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Maintaining a healthy diet is important for preventing diseases, improving physical fitness, and supporting overall well-being. However, many people find it difficult to select suitable meals according to their health conditions, dietary preferences, nutritional requirements, and available budget.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meal-planning methods usually provide general diet plans that may not consider individual needs.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may also face difficulties in calculating calorie requirements, identifying healthy recipes, controlling food expenses, and following meal schedules regularly.</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AI-Based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solves these problems by providing personalized nutrition recommendations.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 health information and generates suitable meal plans, recipes, nutrition details, grocery lists, and budget summaries.</a:t>
            </a:r>
          </a:p>
          <a:p>
            <a:pPr>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22E2A74-9B5F-A366-7575-23A625C3293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118C2E70-201B-5125-CFD5-0FC15087B04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60631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8DC7B-7133-5DA7-3040-E5AC48428A18}"/>
              </a:ext>
            </a:extLst>
          </p:cNvPr>
          <p:cNvSpPr txBox="1"/>
          <p:nvPr/>
        </p:nvSpPr>
        <p:spPr>
          <a:xfrm>
            <a:off x="3637280" y="525657"/>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22484B8C-BDAA-5BE1-C60A-FB8611E29F98}"/>
              </a:ext>
            </a:extLst>
          </p:cNvPr>
          <p:cNvSpPr txBox="1"/>
          <p:nvPr/>
        </p:nvSpPr>
        <p:spPr>
          <a:xfrm>
            <a:off x="204601" y="1406941"/>
            <a:ext cx="11509879" cy="5866350"/>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Many people struggle to follow a healthy diet because they do not have proper knowledge about calories, nutrients, balanced meals, food costs, and suitable recipes.</a:t>
            </a:r>
          </a:p>
          <a:p>
            <a:pPr>
              <a:lnSpc>
                <a:spcPct val="150000"/>
              </a:lnSpc>
            </a:pPr>
            <a:r>
              <a:rPr lang="en-IN" dirty="0">
                <a:latin typeface="Times New Roman" panose="02020603050405020304" pitchFamily="18" charset="0"/>
                <a:cs typeface="Times New Roman" panose="02020603050405020304" pitchFamily="18" charset="0"/>
              </a:rPr>
              <a:t>Existing meal-planning applications often provide common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diet plans without considering important factors such as: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Age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Gender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Height and weight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Fitness goals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Activity level</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Medical conditions</a:t>
            </a:r>
          </a:p>
          <a:p>
            <a:pPr>
              <a:lnSpc>
                <a:spcPct val="150000"/>
              </a:lnSpc>
            </a:pPr>
            <a:r>
              <a:rPr lang="en-IN" dirty="0">
                <a:latin typeface="Times New Roman" panose="02020603050405020304" pitchFamily="18" charset="0"/>
                <a:cs typeface="Times New Roman" panose="02020603050405020304" pitchFamily="18" charset="0"/>
              </a:rPr>
              <a:t>Users also face difficulty in planning affordable meals, tracking calorie intake, remembering meal timings, and monitoring their health progress.</a:t>
            </a:r>
          </a:p>
          <a:p>
            <a:pPr algn="just">
              <a:lnSpc>
                <a:spcPct val="150000"/>
              </a:lnSpc>
              <a:buNone/>
            </a:pPr>
            <a:br>
              <a:rPr lang="en-IN" dirty="0">
                <a:latin typeface="Times New Roman" panose="02020603050405020304" pitchFamily="18" charset="0"/>
                <a:cs typeface="Times New Roman" panose="02020603050405020304" pitchFamily="18" charset="0"/>
              </a:rPr>
            </a:br>
            <a:endParaRPr lang="en-IN" dirty="0"/>
          </a:p>
        </p:txBody>
      </p:sp>
      <p:pic>
        <p:nvPicPr>
          <p:cNvPr id="6" name="Picture 5">
            <a:extLst>
              <a:ext uri="{FF2B5EF4-FFF2-40B4-BE49-F238E27FC236}">
                <a16:creationId xmlns:a16="http://schemas.microsoft.com/office/drawing/2014/main" id="{F9EF0379-31AA-D00F-F17C-9219A4016A99}"/>
              </a:ext>
            </a:extLst>
          </p:cNvPr>
          <p:cNvPicPr>
            <a:picLocks noChangeAspect="1"/>
          </p:cNvPicPr>
          <p:nvPr/>
        </p:nvPicPr>
        <p:blipFill>
          <a:blip r:embed="rId2"/>
          <a:srcRect r="47396"/>
          <a:stretch>
            <a:fillRect/>
          </a:stretch>
        </p:blipFill>
        <p:spPr>
          <a:xfrm>
            <a:off x="6502400" y="1923682"/>
            <a:ext cx="5212080" cy="4832867"/>
          </a:xfrm>
          <a:prstGeom prst="rect">
            <a:avLst/>
          </a:prstGeom>
        </p:spPr>
      </p:pic>
      <p:pic>
        <p:nvPicPr>
          <p:cNvPr id="2" name="Picture 1">
            <a:extLst>
              <a:ext uri="{FF2B5EF4-FFF2-40B4-BE49-F238E27FC236}">
                <a16:creationId xmlns:a16="http://schemas.microsoft.com/office/drawing/2014/main" id="{375CA401-9012-45A1-C439-C960283353C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730C318-340E-07DC-8C25-5485077302A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2766E03E-BCCC-DC50-512B-B4073DA8ECE5}"/>
              </a:ext>
            </a:extLst>
          </p:cNvPr>
          <p:cNvSpPr txBox="1"/>
          <p:nvPr/>
        </p:nvSpPr>
        <p:spPr>
          <a:xfrm>
            <a:off x="2834640" y="3324452"/>
            <a:ext cx="3962399"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Food allergies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Dietary preferences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Available ingredients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Daily or weekly budget</a:t>
            </a:r>
          </a:p>
          <a:p>
            <a:endParaRPr lang="en-IN" dirty="0"/>
          </a:p>
        </p:txBody>
      </p:sp>
    </p:spTree>
    <p:extLst>
      <p:ext uri="{BB962C8B-B14F-4D97-AF65-F5344CB8AC3E}">
        <p14:creationId xmlns:p14="http://schemas.microsoft.com/office/powerpoint/2010/main" val="356208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FA342-C8FF-11A5-8DCB-88889F6309C9}"/>
              </a:ext>
            </a:extLst>
          </p:cNvPr>
          <p:cNvSpPr txBox="1"/>
          <p:nvPr/>
        </p:nvSpPr>
        <p:spPr>
          <a:xfrm>
            <a:off x="3657600" y="41233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LITERATURE REVIEW</a:t>
            </a:r>
          </a:p>
        </p:txBody>
      </p:sp>
      <p:pic>
        <p:nvPicPr>
          <p:cNvPr id="2" name="Picture 1">
            <a:extLst>
              <a:ext uri="{FF2B5EF4-FFF2-40B4-BE49-F238E27FC236}">
                <a16:creationId xmlns:a16="http://schemas.microsoft.com/office/drawing/2014/main" id="{D5B5FA87-2144-C8D2-9601-BDCBAD300FD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6" name="Picture 5">
            <a:extLst>
              <a:ext uri="{FF2B5EF4-FFF2-40B4-BE49-F238E27FC236}">
                <a16:creationId xmlns:a16="http://schemas.microsoft.com/office/drawing/2014/main" id="{D905DE41-65E0-4EC2-E1A4-4A52B47B5D7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graphicFrame>
        <p:nvGraphicFramePr>
          <p:cNvPr id="7" name="Table 6">
            <a:extLst>
              <a:ext uri="{FF2B5EF4-FFF2-40B4-BE49-F238E27FC236}">
                <a16:creationId xmlns:a16="http://schemas.microsoft.com/office/drawing/2014/main" id="{E1274C3B-92F6-BC33-67D3-16F00C063844}"/>
              </a:ext>
            </a:extLst>
          </p:cNvPr>
          <p:cNvGraphicFramePr>
            <a:graphicFrameLocks noGrp="1"/>
          </p:cNvGraphicFramePr>
          <p:nvPr>
            <p:extLst>
              <p:ext uri="{D42A27DB-BD31-4B8C-83A1-F6EECF244321}">
                <p14:modId xmlns:p14="http://schemas.microsoft.com/office/powerpoint/2010/main" val="2443803849"/>
              </p:ext>
            </p:extLst>
          </p:nvPr>
        </p:nvGraphicFramePr>
        <p:xfrm>
          <a:off x="3078480" y="1641446"/>
          <a:ext cx="5893405" cy="4353692"/>
        </p:xfrm>
        <a:graphic>
          <a:graphicData uri="http://schemas.openxmlformats.org/drawingml/2006/table">
            <a:tbl>
              <a:tblPr/>
              <a:tblGrid>
                <a:gridCol w="1291989">
                  <a:extLst>
                    <a:ext uri="{9D8B030D-6E8A-4147-A177-3AD203B41FA5}">
                      <a16:colId xmlns:a16="http://schemas.microsoft.com/office/drawing/2014/main" val="1071194483"/>
                    </a:ext>
                  </a:extLst>
                </a:gridCol>
                <a:gridCol w="1150354">
                  <a:extLst>
                    <a:ext uri="{9D8B030D-6E8A-4147-A177-3AD203B41FA5}">
                      <a16:colId xmlns:a16="http://schemas.microsoft.com/office/drawing/2014/main" val="891338856"/>
                    </a:ext>
                  </a:extLst>
                </a:gridCol>
                <a:gridCol w="1150354">
                  <a:extLst>
                    <a:ext uri="{9D8B030D-6E8A-4147-A177-3AD203B41FA5}">
                      <a16:colId xmlns:a16="http://schemas.microsoft.com/office/drawing/2014/main" val="2352614615"/>
                    </a:ext>
                  </a:extLst>
                </a:gridCol>
                <a:gridCol w="1150354">
                  <a:extLst>
                    <a:ext uri="{9D8B030D-6E8A-4147-A177-3AD203B41FA5}">
                      <a16:colId xmlns:a16="http://schemas.microsoft.com/office/drawing/2014/main" val="3217440750"/>
                    </a:ext>
                  </a:extLst>
                </a:gridCol>
                <a:gridCol w="1150354">
                  <a:extLst>
                    <a:ext uri="{9D8B030D-6E8A-4147-A177-3AD203B41FA5}">
                      <a16:colId xmlns:a16="http://schemas.microsoft.com/office/drawing/2014/main" val="305794996"/>
                    </a:ext>
                  </a:extLst>
                </a:gridCol>
              </a:tblGrid>
              <a:tr h="200062">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4001441496"/>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83904872"/>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395538112"/>
                  </a:ext>
                </a:extLst>
              </a:tr>
              <a:tr h="650200">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3662486301"/>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532319359"/>
                  </a:ext>
                </a:extLst>
              </a:tr>
              <a:tr h="650200">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extLst>
                  <a:ext uri="{0D108BD9-81ED-4DB2-BD59-A6C34878D82A}">
                    <a16:rowId xmlns:a16="http://schemas.microsoft.com/office/drawing/2014/main" val="4215588131"/>
                  </a:ext>
                </a:extLst>
              </a:tr>
            </a:tbl>
          </a:graphicData>
        </a:graphic>
      </p:graphicFrame>
      <p:pic>
        <p:nvPicPr>
          <p:cNvPr id="9" name="Picture 8">
            <a:extLst>
              <a:ext uri="{FF2B5EF4-FFF2-40B4-BE49-F238E27FC236}">
                <a16:creationId xmlns:a16="http://schemas.microsoft.com/office/drawing/2014/main" id="{172576B0-1A06-6F80-EECF-527713ADB4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478797"/>
            <a:ext cx="12191999" cy="5379203"/>
          </a:xfrm>
          <a:prstGeom prst="rect">
            <a:avLst/>
          </a:prstGeom>
        </p:spPr>
      </p:pic>
    </p:spTree>
    <p:extLst>
      <p:ext uri="{BB962C8B-B14F-4D97-AF65-F5344CB8AC3E}">
        <p14:creationId xmlns:p14="http://schemas.microsoft.com/office/powerpoint/2010/main" val="389179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3E8799E-7E9F-7848-30F0-D2F170C9C6B9}"/>
              </a:ext>
            </a:extLst>
          </p:cNvPr>
          <p:cNvSpPr txBox="1"/>
          <p:nvPr/>
        </p:nvSpPr>
        <p:spPr>
          <a:xfrm>
            <a:off x="3149600" y="27002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SYSTEM ARCHITECTURE</a:t>
            </a:r>
          </a:p>
        </p:txBody>
      </p:sp>
      <p:pic>
        <p:nvPicPr>
          <p:cNvPr id="2" name="Picture 1">
            <a:extLst>
              <a:ext uri="{FF2B5EF4-FFF2-40B4-BE49-F238E27FC236}">
                <a16:creationId xmlns:a16="http://schemas.microsoft.com/office/drawing/2014/main" id="{35DCE157-578C-DA7B-1F98-AF6B1B9D5B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3" name="Picture 2">
            <a:extLst>
              <a:ext uri="{FF2B5EF4-FFF2-40B4-BE49-F238E27FC236}">
                <a16:creationId xmlns:a16="http://schemas.microsoft.com/office/drawing/2014/main" id="{FE87C810-3145-CA90-B63D-D48037C684F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pic>
        <p:nvPicPr>
          <p:cNvPr id="5" name="Picture 4">
            <a:extLst>
              <a:ext uri="{FF2B5EF4-FFF2-40B4-BE49-F238E27FC236}">
                <a16:creationId xmlns:a16="http://schemas.microsoft.com/office/drawing/2014/main" id="{DE3086DB-ECC7-6CAD-1029-5F98D410EC7E}"/>
              </a:ext>
            </a:extLst>
          </p:cNvPr>
          <p:cNvPicPr>
            <a:picLocks noChangeAspect="1"/>
          </p:cNvPicPr>
          <p:nvPr/>
        </p:nvPicPr>
        <p:blipFill>
          <a:blip r:embed="rId4">
            <a:extLst>
              <a:ext uri="{28A0092B-C50C-407E-A947-70E740481C1C}">
                <a14:useLocalDpi xmlns:a14="http://schemas.microsoft.com/office/drawing/2010/main" val="0"/>
              </a:ext>
            </a:extLst>
          </a:blip>
          <a:srcRect t="6188"/>
          <a:stretch>
            <a:fillRect/>
          </a:stretch>
        </p:blipFill>
        <p:spPr>
          <a:xfrm>
            <a:off x="101600" y="1453777"/>
            <a:ext cx="11988800" cy="5348456"/>
          </a:xfrm>
          <a:prstGeom prst="rect">
            <a:avLst/>
          </a:prstGeom>
        </p:spPr>
      </p:pic>
    </p:spTree>
    <p:extLst>
      <p:ext uri="{BB962C8B-B14F-4D97-AF65-F5344CB8AC3E}">
        <p14:creationId xmlns:p14="http://schemas.microsoft.com/office/powerpoint/2010/main" val="242588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ADA628-1F06-B047-E3EF-475AD3B5B36E}"/>
              </a:ext>
            </a:extLst>
          </p:cNvPr>
          <p:cNvSpPr txBox="1"/>
          <p:nvPr/>
        </p:nvSpPr>
        <p:spPr>
          <a:xfrm>
            <a:off x="1696720" y="735499"/>
            <a:ext cx="9215120" cy="584775"/>
          </a:xfrm>
          <a:prstGeom prst="rect">
            <a:avLst/>
          </a:prstGeom>
          <a:noFill/>
        </p:spPr>
        <p:txBody>
          <a:bodyPr wrap="square">
            <a:spAutoFit/>
          </a:bodyPr>
          <a:lstStyle/>
          <a:p>
            <a:pPr algn="ctr">
              <a:buNone/>
            </a:pPr>
            <a:r>
              <a:rPr lang="en-IN" sz="3200" b="1" dirty="0">
                <a:solidFill>
                  <a:srgbClr val="FF0000"/>
                </a:solidFill>
                <a:latin typeface="Times New Roman" panose="02020603050405020304" pitchFamily="18" charset="0"/>
                <a:cs typeface="Times New Roman" panose="02020603050405020304" pitchFamily="18" charset="0"/>
              </a:rPr>
              <a:t>Module 1 – User Profile and Health Assessment </a:t>
            </a:r>
          </a:p>
        </p:txBody>
      </p:sp>
      <p:pic>
        <p:nvPicPr>
          <p:cNvPr id="2" name="Picture 1">
            <a:extLst>
              <a:ext uri="{FF2B5EF4-FFF2-40B4-BE49-F238E27FC236}">
                <a16:creationId xmlns:a16="http://schemas.microsoft.com/office/drawing/2014/main" id="{864988A8-8DA0-DD8B-06DE-C58EE7FD6BE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B6B0A49-CC3D-CEF1-A10A-F4D7074101B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5D2BCCF4-A7A1-1C80-F71D-E5AD9E2F9D0E}"/>
              </a:ext>
            </a:extLst>
          </p:cNvPr>
          <p:cNvSpPr txBox="1"/>
          <p:nvPr/>
        </p:nvSpPr>
        <p:spPr>
          <a:xfrm>
            <a:off x="1411698" y="1870782"/>
            <a:ext cx="9368603"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collect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users' personal, health, and dietary information in order to generate personalized nutrition recommendations and healthy meal plans.</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Registers and authenticates users securely.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Collects user profile details such as age, gender, height, weight, and target weight.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Records dietary preferences, allergies, medical conditions, and fitness goals.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BMI, BMR, and daily calorie requirements.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user information securely in MongoDB Atlas.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personalized health assessment for AI-based meal planning.</a:t>
            </a:r>
          </a:p>
          <a:p>
            <a:pPr>
              <a:buNone/>
            </a:pPr>
            <a:br>
              <a:rPr lang="en-IN" dirty="0"/>
            </a:br>
            <a:endParaRPr lang="en-IN" dirty="0"/>
          </a:p>
        </p:txBody>
      </p:sp>
    </p:spTree>
    <p:extLst>
      <p:ext uri="{BB962C8B-B14F-4D97-AF65-F5344CB8AC3E}">
        <p14:creationId xmlns:p14="http://schemas.microsoft.com/office/powerpoint/2010/main" val="332521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EAE2FE-B0EA-98D1-4E89-50FCFCBDC9B6}"/>
              </a:ext>
            </a:extLst>
          </p:cNvPr>
          <p:cNvSpPr txBox="1"/>
          <p:nvPr/>
        </p:nvSpPr>
        <p:spPr>
          <a:xfrm>
            <a:off x="2171437" y="527898"/>
            <a:ext cx="985520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2 – AI-Based Personalized Meal Planning</a:t>
            </a:r>
          </a:p>
        </p:txBody>
      </p:sp>
      <p:pic>
        <p:nvPicPr>
          <p:cNvPr id="2" name="Picture 1">
            <a:extLst>
              <a:ext uri="{FF2B5EF4-FFF2-40B4-BE49-F238E27FC236}">
                <a16:creationId xmlns:a16="http://schemas.microsoft.com/office/drawing/2014/main" id="{DE8EDB51-43CB-4F69-3F9B-C57E29330F5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65363" y="114857"/>
            <a:ext cx="1135117" cy="1342884"/>
          </a:xfrm>
          <a:prstGeom prst="rect">
            <a:avLst/>
          </a:prstGeom>
          <a:noFill/>
        </p:spPr>
      </p:pic>
      <p:pic>
        <p:nvPicPr>
          <p:cNvPr id="4" name="Picture 3">
            <a:extLst>
              <a:ext uri="{FF2B5EF4-FFF2-40B4-BE49-F238E27FC236}">
                <a16:creationId xmlns:a16="http://schemas.microsoft.com/office/drawing/2014/main" id="{09E990B9-BFF0-171F-C41B-B9316D1AB2B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06523" y="110893"/>
            <a:ext cx="1520114" cy="1342884"/>
          </a:xfrm>
          <a:prstGeom prst="rect">
            <a:avLst/>
          </a:prstGeom>
          <a:noFill/>
          <a:ln>
            <a:noFill/>
          </a:ln>
        </p:spPr>
      </p:pic>
      <p:sp>
        <p:nvSpPr>
          <p:cNvPr id="9" name="TextBox 8">
            <a:extLst>
              <a:ext uri="{FF2B5EF4-FFF2-40B4-BE49-F238E27FC236}">
                <a16:creationId xmlns:a16="http://schemas.microsoft.com/office/drawing/2014/main" id="{90B2F07C-6406-5DA0-6232-C32284CCC663}"/>
              </a:ext>
            </a:extLst>
          </p:cNvPr>
          <p:cNvSpPr txBox="1"/>
          <p:nvPr/>
        </p:nvSpPr>
        <p:spPr>
          <a:xfrm>
            <a:off x="1300480" y="1978581"/>
            <a:ext cx="9500683" cy="4197559"/>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generate personalized daily and weekly meal plans based on the user's nutritional requirements, health conditions, and fitness goals using Artificial Intelligence.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AI-powered personalized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Creates breakfast, lunch, snacks, and dinner schedules.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calories, protein, carbohydrates, fats, and fibre for each meal.</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weight loss, weight gain, diabetic, vegetarian, vegan, and keto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Regenerates meals based on user preferences.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daily and weekly nutritional intake.</a:t>
            </a:r>
          </a:p>
        </p:txBody>
      </p:sp>
    </p:spTree>
    <p:extLst>
      <p:ext uri="{BB962C8B-B14F-4D97-AF65-F5344CB8AC3E}">
        <p14:creationId xmlns:p14="http://schemas.microsoft.com/office/powerpoint/2010/main" val="1496414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2E1A72-CBEE-2DD5-2D81-51BCD3C1428A}"/>
              </a:ext>
            </a:extLst>
          </p:cNvPr>
          <p:cNvSpPr txBox="1"/>
          <p:nvPr/>
        </p:nvSpPr>
        <p:spPr>
          <a:xfrm>
            <a:off x="2794000" y="399534"/>
            <a:ext cx="724408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3 – AI Recipe Recommendation</a:t>
            </a:r>
          </a:p>
        </p:txBody>
      </p:sp>
      <p:pic>
        <p:nvPicPr>
          <p:cNvPr id="2" name="Picture 1">
            <a:extLst>
              <a:ext uri="{FF2B5EF4-FFF2-40B4-BE49-F238E27FC236}">
                <a16:creationId xmlns:a16="http://schemas.microsoft.com/office/drawing/2014/main" id="{7B02A381-564D-29F4-D174-D3E77D305D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4" name="Picture 3">
            <a:extLst>
              <a:ext uri="{FF2B5EF4-FFF2-40B4-BE49-F238E27FC236}">
                <a16:creationId xmlns:a16="http://schemas.microsoft.com/office/drawing/2014/main" id="{6D947E06-887B-53D7-FC7C-C59A288FBBE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BC994BC1-AF36-FD02-C756-C8571A67556C}"/>
              </a:ext>
            </a:extLst>
          </p:cNvPr>
          <p:cNvSpPr txBox="1"/>
          <p:nvPr/>
        </p:nvSpPr>
        <p:spPr>
          <a:xfrm>
            <a:off x="1645920" y="1531541"/>
            <a:ext cx="8757920"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recommend suitable recipes based on available ingredients and generate customized recipes using Artificial Intelligence.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ingredients entered by the user.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Recommends recipes using ingredient matching.</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AI-based recipes with cooking instructions.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recipe images using the </a:t>
            </a:r>
            <a:r>
              <a:rPr lang="en-IN" dirty="0" err="1">
                <a:latin typeface="Times New Roman" panose="02020603050405020304" pitchFamily="18" charset="0"/>
                <a:cs typeface="Times New Roman" panose="02020603050405020304" pitchFamily="18" charset="0"/>
              </a:rPr>
              <a:t>Pexels</a:t>
            </a:r>
            <a:r>
              <a:rPr lang="en-IN" dirty="0">
                <a:latin typeface="Times New Roman" panose="02020603050405020304" pitchFamily="18" charset="0"/>
                <a:cs typeface="Times New Roman" panose="02020603050405020304" pitchFamily="18" charset="0"/>
              </a:rPr>
              <a:t> API.</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nutritional information and estimated meal cost.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Allows users to save favourite recipes and provide ratings and feedback.</a:t>
            </a:r>
          </a:p>
          <a:p>
            <a:pPr>
              <a:buNone/>
            </a:pPr>
            <a:br>
              <a:rPr lang="en-IN" dirty="0"/>
            </a:br>
            <a:endParaRPr lang="en-IN" dirty="0"/>
          </a:p>
        </p:txBody>
      </p:sp>
    </p:spTree>
    <p:extLst>
      <p:ext uri="{BB962C8B-B14F-4D97-AF65-F5344CB8AC3E}">
        <p14:creationId xmlns:p14="http://schemas.microsoft.com/office/powerpoint/2010/main" val="4255234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D2C3F1-5320-9F92-FBE6-654F03F1F55E}"/>
              </a:ext>
            </a:extLst>
          </p:cNvPr>
          <p:cNvSpPr txBox="1"/>
          <p:nvPr/>
        </p:nvSpPr>
        <p:spPr>
          <a:xfrm>
            <a:off x="1889760" y="691921"/>
            <a:ext cx="8412480" cy="1077218"/>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4 – Smart Budget and Nutrition Analytics</a:t>
            </a:r>
          </a:p>
          <a:p>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9E5049-0DB6-6D96-7B26-B66BC6197AC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7" name="Picture 6">
            <a:extLst>
              <a:ext uri="{FF2B5EF4-FFF2-40B4-BE49-F238E27FC236}">
                <a16:creationId xmlns:a16="http://schemas.microsoft.com/office/drawing/2014/main" id="{710F73C0-451B-5AE8-D606-B0960F8AC6E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9" name="TextBox 8">
            <a:extLst>
              <a:ext uri="{FF2B5EF4-FFF2-40B4-BE49-F238E27FC236}">
                <a16:creationId xmlns:a16="http://schemas.microsoft.com/office/drawing/2014/main" id="{26EF0384-7C1D-5027-6712-CB9FDC1CD4C7}"/>
              </a:ext>
            </a:extLst>
          </p:cNvPr>
          <p:cNvSpPr txBox="1"/>
          <p:nvPr/>
        </p:nvSpPr>
        <p:spPr>
          <a:xfrm>
            <a:off x="1473200" y="1602661"/>
            <a:ext cx="9245600"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provide healthy and affordable meal plans while helping users manage their food budget and monitor nutritional intake.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budget-friendly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meal costs and remaining budget.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Creates grocery lists for selected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calorie and nutrition analytics.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budget utilization reports using interactive charts.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Monitors daily and weekly nutrition progress through dashboards.</a:t>
            </a:r>
          </a:p>
          <a:p>
            <a:pPr>
              <a:buNone/>
            </a:pPr>
            <a:br>
              <a:rPr lang="en-IN" dirty="0"/>
            </a:br>
            <a:endParaRPr lang="en-IN" dirty="0"/>
          </a:p>
        </p:txBody>
      </p:sp>
    </p:spTree>
    <p:extLst>
      <p:ext uri="{BB962C8B-B14F-4D97-AF65-F5344CB8AC3E}">
        <p14:creationId xmlns:p14="http://schemas.microsoft.com/office/powerpoint/2010/main" val="130004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E871B-6118-F551-62C3-DD81344A52D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5" name="Picture 4">
            <a:extLst>
              <a:ext uri="{FF2B5EF4-FFF2-40B4-BE49-F238E27FC236}">
                <a16:creationId xmlns:a16="http://schemas.microsoft.com/office/drawing/2014/main" id="{C5B1EB0C-91B2-94F9-28DD-DF7475EE0D5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9" name="TextBox 8">
            <a:extLst>
              <a:ext uri="{FF2B5EF4-FFF2-40B4-BE49-F238E27FC236}">
                <a16:creationId xmlns:a16="http://schemas.microsoft.com/office/drawing/2014/main" id="{760FBF33-F0B6-152C-BC3E-FE9E2D711D1E}"/>
              </a:ext>
            </a:extLst>
          </p:cNvPr>
          <p:cNvSpPr txBox="1"/>
          <p:nvPr/>
        </p:nvSpPr>
        <p:spPr>
          <a:xfrm>
            <a:off x="1889760" y="691921"/>
            <a:ext cx="8808720" cy="1077218"/>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5 – Notifications and Progress Monitoring</a:t>
            </a:r>
          </a:p>
          <a:p>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555D0E4-AD99-71EF-3AA3-1504DF5BA791}"/>
              </a:ext>
            </a:extLst>
          </p:cNvPr>
          <p:cNvSpPr txBox="1"/>
          <p:nvPr/>
        </p:nvSpPr>
        <p:spPr>
          <a:xfrm>
            <a:off x="1772920" y="1697841"/>
            <a:ext cx="8646160" cy="4197559"/>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improve user consistency in following healthy eating habits through reminders, progress tracking, and personalized health monitoring.</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Sends reminders for meals, water intake, and exercise.</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Collects meal completion and feedback from users.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calorie intake, weight changes, and meal completion percentage.</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daily, weekly, and monthly progress reports.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health and nutrition progress using charts and dashboards.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Encourages healthy lifestyle habits through continuous monitoring and notifications.</a:t>
            </a:r>
          </a:p>
        </p:txBody>
      </p:sp>
    </p:spTree>
    <p:extLst>
      <p:ext uri="{BB962C8B-B14F-4D97-AF65-F5344CB8AC3E}">
        <p14:creationId xmlns:p14="http://schemas.microsoft.com/office/powerpoint/2010/main" val="581830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8E8A5D-F1A2-3F56-CBBD-EBEC943D773F}"/>
              </a:ext>
            </a:extLst>
          </p:cNvPr>
          <p:cNvSpPr txBox="1"/>
          <p:nvPr/>
        </p:nvSpPr>
        <p:spPr>
          <a:xfrm>
            <a:off x="4267200" y="576476"/>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8A34B03B-58EB-4022-BD17-8D297E34D87B}"/>
              </a:ext>
            </a:extLst>
          </p:cNvPr>
          <p:cNvSpPr txBox="1"/>
          <p:nvPr/>
        </p:nvSpPr>
        <p:spPr>
          <a:xfrm>
            <a:off x="853440" y="1685003"/>
            <a:ext cx="10576560" cy="5582554"/>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AI-Based </a:t>
            </a:r>
            <a:r>
              <a:rPr lang="en-IN" b="1" dirty="0" err="1">
                <a:latin typeface="Times New Roman" panose="02020603050405020304" pitchFamily="18" charset="0"/>
                <a:cs typeface="Times New Roman" panose="02020603050405020304" pitchFamily="18" charset="0"/>
              </a:rPr>
              <a:t>NutriSmart</a:t>
            </a:r>
            <a:r>
              <a:rPr lang="en-IN" b="1" dirty="0">
                <a:latin typeface="Times New Roman" panose="02020603050405020304" pitchFamily="18" charset="0"/>
                <a:cs typeface="Times New Roman" panose="02020603050405020304" pitchFamily="18" charset="0"/>
              </a:rPr>
              <a:t> System for Personalized Nutrition, Recipe Recommendation, and Budget Meal Planning</a:t>
            </a:r>
            <a:r>
              <a:rPr lang="en-IN" dirty="0">
                <a:latin typeface="Times New Roman" panose="02020603050405020304" pitchFamily="18" charset="0"/>
                <a:cs typeface="Times New Roman" panose="02020603050405020304" pitchFamily="18" charset="0"/>
              </a:rPr>
              <a:t> successfully demonstrates how Artificial Intelligence can be applied to improve healthy eating habits and personalized nutrition management. The system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 information such as age, gender, height, weight, activity level, fitness goals, dietary preferences, allergies, medical conditions, and food budget to generate customized meal plans and recipe </a:t>
            </a:r>
            <a:r>
              <a:rPr lang="en-IN" dirty="0" err="1">
                <a:latin typeface="Times New Roman" panose="02020603050405020304" pitchFamily="18" charset="0"/>
                <a:cs typeface="Times New Roman" panose="02020603050405020304" pitchFamily="18" charset="0"/>
              </a:rPr>
              <a:t>recommendations.The</a:t>
            </a:r>
            <a:r>
              <a:rPr lang="en-IN" dirty="0">
                <a:latin typeface="Times New Roman" panose="02020603050405020304" pitchFamily="18" charset="0"/>
                <a:cs typeface="Times New Roman" panose="02020603050405020304" pitchFamily="18" charset="0"/>
              </a:rPr>
              <a:t> inclusion of reminder notifications and health tracking encourages users to maintain consistency in following their meal plans and achieving their health goals. Built using modern technologies such as HTML5, CSS3, JavaScript, Bootstrap, Python,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MongoDB Atlas, OpenAI API, </a:t>
            </a:r>
            <a:r>
              <a:rPr lang="en-IN" dirty="0" err="1">
                <a:latin typeface="Times New Roman" panose="02020603050405020304" pitchFamily="18" charset="0"/>
                <a:cs typeface="Times New Roman" panose="02020603050405020304" pitchFamily="18" charset="0"/>
              </a:rPr>
              <a:t>Pexels</a:t>
            </a:r>
            <a:r>
              <a:rPr lang="en-IN" dirty="0">
                <a:latin typeface="Times New Roman" panose="02020603050405020304" pitchFamily="18" charset="0"/>
                <a:cs typeface="Times New Roman" panose="02020603050405020304" pitchFamily="18" charset="0"/>
              </a:rPr>
              <a:t> API, and Browser Notification API, the system offers a scalable, secure, and user-friendly platform. Overall, the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effectively combines artificial intelligence, web technologies, and data analytics to provide an intelligent solution for personalized nutrition, making healthy eating simpler, smarter, and more accessible for users.</a:t>
            </a:r>
          </a:p>
          <a:p>
            <a:br>
              <a:rPr lang="en-IN" dirty="0"/>
            </a:br>
            <a:endParaRPr lang="en-IN" dirty="0"/>
          </a:p>
          <a:p>
            <a:pPr algn="just">
              <a:lnSpc>
                <a:spcPct val="150000"/>
              </a:lnSpc>
            </a:pPr>
            <a:r>
              <a:rPr lang="en-IN"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71CF950F-11FB-4A92-B126-75507A52EAD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DBEAB8F-7176-C4D5-F871-9061A42C0B8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365369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BD746-4FBD-CECC-4161-228316707191}"/>
              </a:ext>
            </a:extLst>
          </p:cNvPr>
          <p:cNvSpPr txBox="1"/>
          <p:nvPr/>
        </p:nvSpPr>
        <p:spPr>
          <a:xfrm>
            <a:off x="4094480" y="48947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16F09B44-13E2-BF5F-4B15-BF99FAD1A150}"/>
              </a:ext>
            </a:extLst>
          </p:cNvPr>
          <p:cNvSpPr txBox="1"/>
          <p:nvPr/>
        </p:nvSpPr>
        <p:spPr>
          <a:xfrm>
            <a:off x="833120" y="1464161"/>
            <a:ext cx="10342880" cy="5449377"/>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Develop native Android and iOS mobile </a:t>
            </a:r>
            <a:r>
              <a:rPr lang="en-IN" dirty="0" err="1">
                <a:latin typeface="Times New Roman" panose="02020603050405020304" pitchFamily="18" charset="0"/>
                <a:cs typeface="Times New Roman" panose="02020603050405020304" pitchFamily="18" charset="0"/>
              </a:rPr>
              <a:t>applications.Integrate</a:t>
            </a:r>
            <a:r>
              <a:rPr lang="en-IN" dirty="0">
                <a:latin typeface="Times New Roman" panose="02020603050405020304" pitchFamily="18" charset="0"/>
                <a:cs typeface="Times New Roman" panose="02020603050405020304" pitchFamily="18" charset="0"/>
              </a:rPr>
              <a:t> wearable devices such as smartwatches and fitness bands.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Implement food image recognition using Computer Vision and Deep </a:t>
            </a:r>
            <a:r>
              <a:rPr lang="en-IN" dirty="0" err="1">
                <a:latin typeface="Times New Roman" panose="02020603050405020304" pitchFamily="18" charset="0"/>
                <a:cs typeface="Times New Roman" panose="02020603050405020304" pitchFamily="18" charset="0"/>
              </a:rPr>
              <a:t>Learning.Add</a:t>
            </a:r>
            <a:r>
              <a:rPr lang="en-IN" dirty="0">
                <a:latin typeface="Times New Roman" panose="02020603050405020304" pitchFamily="18" charset="0"/>
                <a:cs typeface="Times New Roman" panose="02020603050405020304" pitchFamily="18" charset="0"/>
              </a:rPr>
              <a:t> barcode and QR code scanning for packaged food nutrition analysis.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Support multiple regional and international </a:t>
            </a:r>
            <a:r>
              <a:rPr lang="en-IN" dirty="0" err="1">
                <a:latin typeface="Times New Roman" panose="02020603050405020304" pitchFamily="18" charset="0"/>
                <a:cs typeface="Times New Roman" panose="02020603050405020304" pitchFamily="18" charset="0"/>
              </a:rPr>
              <a:t>languages.Provide</a:t>
            </a:r>
            <a:r>
              <a:rPr lang="en-IN" dirty="0">
                <a:latin typeface="Times New Roman" panose="02020603050405020304" pitchFamily="18" charset="0"/>
                <a:cs typeface="Times New Roman" panose="02020603050405020304" pitchFamily="18" charset="0"/>
              </a:rPr>
              <a:t> voice-enabled AI nutrition assistant and chatbot.</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Enable online grocery ordering based on generated shopping </a:t>
            </a:r>
            <a:r>
              <a:rPr lang="en-IN" dirty="0" err="1">
                <a:latin typeface="Times New Roman" panose="02020603050405020304" pitchFamily="18" charset="0"/>
                <a:cs typeface="Times New Roman" panose="02020603050405020304" pitchFamily="18" charset="0"/>
              </a:rPr>
              <a:t>lists.Introduce</a:t>
            </a:r>
            <a:r>
              <a:rPr lang="en-IN" dirty="0">
                <a:latin typeface="Times New Roman" panose="02020603050405020304" pitchFamily="18" charset="0"/>
                <a:cs typeface="Times New Roman" panose="02020603050405020304" pitchFamily="18" charset="0"/>
              </a:rPr>
              <a:t> disease-specific diet plans for diabetes, hypertension, thyroid, PCOS, and heart </a:t>
            </a:r>
            <a:r>
              <a:rPr lang="en-IN" dirty="0" err="1">
                <a:latin typeface="Times New Roman" panose="02020603050405020304" pitchFamily="18" charset="0"/>
                <a:cs typeface="Times New Roman" panose="02020603050405020304" pitchFamily="18" charset="0"/>
              </a:rPr>
              <a:t>diseases.Integrate</a:t>
            </a:r>
            <a:r>
              <a:rPr lang="en-IN" dirty="0">
                <a:latin typeface="Times New Roman" panose="02020603050405020304" pitchFamily="18" charset="0"/>
                <a:cs typeface="Times New Roman" panose="02020603050405020304" pitchFamily="18" charset="0"/>
              </a:rPr>
              <a:t> with electronic health records (EHR) for personalized healthcare recommendations.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Predict future health risks using Machine Learning </a:t>
            </a:r>
            <a:r>
              <a:rPr lang="en-IN" dirty="0" err="1">
                <a:latin typeface="Times New Roman" panose="02020603050405020304" pitchFamily="18" charset="0"/>
                <a:cs typeface="Times New Roman" panose="02020603050405020304" pitchFamily="18" charset="0"/>
              </a:rPr>
              <a:t>algorithms.Recommend</a:t>
            </a:r>
            <a:r>
              <a:rPr lang="en-IN" dirty="0">
                <a:latin typeface="Times New Roman" panose="02020603050405020304" pitchFamily="18" charset="0"/>
                <a:cs typeface="Times New Roman" panose="02020603050405020304" pitchFamily="18" charset="0"/>
              </a:rPr>
              <a:t> seasonal and locally available food </a:t>
            </a:r>
            <a:r>
              <a:rPr lang="en-IN" dirty="0" err="1">
                <a:latin typeface="Times New Roman" panose="02020603050405020304" pitchFamily="18" charset="0"/>
                <a:cs typeface="Times New Roman" panose="02020603050405020304" pitchFamily="18" charset="0"/>
              </a:rPr>
              <a:t>items.Provide</a:t>
            </a:r>
            <a:r>
              <a:rPr lang="en-IN" dirty="0">
                <a:latin typeface="Times New Roman" panose="02020603050405020304" pitchFamily="18" charset="0"/>
                <a:cs typeface="Times New Roman" panose="02020603050405020304" pitchFamily="18" charset="0"/>
              </a:rPr>
              <a:t> real-time calorie tracking through fitness applications.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Add nutrition consultation with certified </a:t>
            </a:r>
            <a:r>
              <a:rPr lang="en-IN" dirty="0" err="1">
                <a:latin typeface="Times New Roman" panose="02020603050405020304" pitchFamily="18" charset="0"/>
                <a:cs typeface="Times New Roman" panose="02020603050405020304" pitchFamily="18" charset="0"/>
              </a:rPr>
              <a:t>dietitians.Reduce</a:t>
            </a:r>
            <a:r>
              <a:rPr lang="en-IN" dirty="0">
                <a:latin typeface="Times New Roman" panose="02020603050405020304" pitchFamily="18" charset="0"/>
                <a:cs typeface="Times New Roman" panose="02020603050405020304" pitchFamily="18" charset="0"/>
              </a:rPr>
              <a:t> food waste by suggesting recipes using leftover ingredients.</a:t>
            </a:r>
          </a:p>
        </p:txBody>
      </p:sp>
      <p:pic>
        <p:nvPicPr>
          <p:cNvPr id="2" name="Picture 1">
            <a:extLst>
              <a:ext uri="{FF2B5EF4-FFF2-40B4-BE49-F238E27FC236}">
                <a16:creationId xmlns:a16="http://schemas.microsoft.com/office/drawing/2014/main" id="{45966F63-9B97-597C-75F2-35C5C25B8BB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12D74A19-7ABA-7932-2706-E1B7A1B1E57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58484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A0840-2E76-E450-D92E-12036C270229}"/>
              </a:ext>
            </a:extLst>
          </p:cNvPr>
          <p:cNvSpPr txBox="1"/>
          <p:nvPr/>
        </p:nvSpPr>
        <p:spPr>
          <a:xfrm>
            <a:off x="4397911" y="459169"/>
            <a:ext cx="6096000" cy="646331"/>
          </a:xfrm>
          <a:prstGeom prst="rect">
            <a:avLst/>
          </a:prstGeom>
          <a:noFill/>
        </p:spPr>
        <p:txBody>
          <a:bodyPr wrap="square">
            <a:spAutoFit/>
          </a:bodyPr>
          <a:lstStyle/>
          <a:p>
            <a:pPr>
              <a:buNone/>
            </a:pPr>
            <a:r>
              <a:rPr lang="en-IN" sz="3600" dirty="0">
                <a:solidFill>
                  <a:srgbClr val="FF0000"/>
                </a:solidFill>
                <a:latin typeface="Times New Roman" panose="02020603050405020304" pitchFamily="18" charset="0"/>
                <a:cs typeface="Times New Roman" panose="02020603050405020304" pitchFamily="18" charset="0"/>
              </a:rPr>
              <a:t>REFERENCES</a:t>
            </a:r>
          </a:p>
        </p:txBody>
      </p:sp>
      <p:sp>
        <p:nvSpPr>
          <p:cNvPr id="9" name="TextBox 8">
            <a:extLst>
              <a:ext uri="{FF2B5EF4-FFF2-40B4-BE49-F238E27FC236}">
                <a16:creationId xmlns:a16="http://schemas.microsoft.com/office/drawing/2014/main" id="{B19ECC38-F8CE-5307-E3CB-91AD4EE8A127}"/>
              </a:ext>
            </a:extLst>
          </p:cNvPr>
          <p:cNvSpPr txBox="1"/>
          <p:nvPr/>
        </p:nvSpPr>
        <p:spPr>
          <a:xfrm>
            <a:off x="514848" y="1617146"/>
            <a:ext cx="10739120" cy="503387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IN" dirty="0"/>
              <a:t>Smith, J. Brown, and L. Wilson, “AI-Based Personalized Nutrition Recommendation Using Machine Learning,” </a:t>
            </a:r>
            <a:r>
              <a:rPr lang="en-IN" i="1" dirty="0"/>
              <a:t>International Journal of Intelligent Systems and Applications</a:t>
            </a:r>
            <a:r>
              <a:rPr lang="en-IN" dirty="0"/>
              <a:t>, vol. 17, no. 2, pp. 45–58, 2025.</a:t>
            </a:r>
          </a:p>
          <a:p>
            <a:pPr marL="342900" indent="-342900" algn="just">
              <a:lnSpc>
                <a:spcPct val="150000"/>
              </a:lnSpc>
              <a:buFont typeface="Wingdings" panose="05000000000000000000" pitchFamily="2" charset="2"/>
              <a:buChar char="ü"/>
            </a:pPr>
            <a:r>
              <a:rPr lang="en-IN" dirty="0"/>
              <a:t>R. Sharma and P. Gupta, “Deep Learning-Based Personalized Diet Recommendation System,” </a:t>
            </a:r>
            <a:r>
              <a:rPr lang="en-IN" i="1" dirty="0"/>
              <a:t>IEEE Access</a:t>
            </a:r>
            <a:r>
              <a:rPr lang="en-IN" dirty="0"/>
              <a:t>, vol. 13, pp. 67890–67905, 2025.</a:t>
            </a:r>
          </a:p>
          <a:p>
            <a:pPr marL="342900" indent="-342900" algn="just">
              <a:lnSpc>
                <a:spcPct val="150000"/>
              </a:lnSpc>
              <a:buFont typeface="Wingdings" panose="05000000000000000000" pitchFamily="2" charset="2"/>
              <a:buChar char="ü"/>
            </a:pPr>
            <a:r>
              <a:rPr lang="en-IN" dirty="0"/>
              <a:t>S. Kumar, A. Verma, and R. Singh, “Smart Meal Planning and Nutrition Recommendation Using Artificial Intelligence,” </a:t>
            </a:r>
            <a:r>
              <a:rPr lang="en-IN" i="1" dirty="0"/>
              <a:t>Journal of Systems and Software</a:t>
            </a:r>
            <a:r>
              <a:rPr lang="en-IN" dirty="0"/>
              <a:t>, vol. 208, pp. 145–158, 2024.</a:t>
            </a:r>
          </a:p>
          <a:p>
            <a:pPr marL="342900" indent="-342900" algn="just">
              <a:lnSpc>
                <a:spcPct val="150000"/>
              </a:lnSpc>
              <a:buFont typeface="Wingdings" panose="05000000000000000000" pitchFamily="2" charset="2"/>
              <a:buChar char="ü"/>
            </a:pPr>
            <a:r>
              <a:rPr lang="en-IN" dirty="0"/>
              <a:t>M. Lee, J. Park, and S. Kim, “Intelligent Food Recommendation System Based on User Health Profiles,” </a:t>
            </a:r>
            <a:r>
              <a:rPr lang="en-IN" i="1" dirty="0"/>
              <a:t>IEEE Transactions on Artificial Intelligence</a:t>
            </a:r>
            <a:r>
              <a:rPr lang="en-IN" dirty="0"/>
              <a:t>, vol. 5, no. 4, pp. 876–889, 2024.</a:t>
            </a:r>
          </a:p>
          <a:p>
            <a:pPr marL="342900" indent="-342900" algn="just">
              <a:lnSpc>
                <a:spcPct val="150000"/>
              </a:lnSpc>
              <a:buFont typeface="Wingdings" panose="05000000000000000000" pitchFamily="2" charset="2"/>
              <a:buChar char="ü"/>
            </a:pPr>
            <a:r>
              <a:rPr lang="en-IN" dirty="0"/>
              <a:t>K. Patel and D. Singh, “AI-Based Budget Meal Planning and Nutrition Analytics,” </a:t>
            </a:r>
            <a:r>
              <a:rPr lang="en-IN" i="1" dirty="0"/>
              <a:t>International Journal of Advanced Computer Science and Applications</a:t>
            </a:r>
            <a:r>
              <a:rPr lang="en-IN" dirty="0"/>
              <a:t>, vol. 16, no. 3, pp. 210–221, 2024.</a:t>
            </a:r>
          </a:p>
          <a:p>
            <a:pPr marL="342900" indent="-342900" algn="just">
              <a:lnSpc>
                <a:spcPct val="150000"/>
              </a:lnSpc>
              <a:buFont typeface="Wingdings" panose="05000000000000000000" pitchFamily="2" charset="2"/>
              <a:buChar char="ü"/>
            </a:pPr>
            <a:r>
              <a:rPr lang="en-IN" dirty="0"/>
              <a:t>T. Johnson and M. Davis, “Personalized Health Monitoring and Meal Recommendation Using Artificial Intelligence,” </a:t>
            </a:r>
            <a:r>
              <a:rPr lang="en-IN" i="1" dirty="0"/>
              <a:t>Journal of Medical Systems</a:t>
            </a:r>
            <a:r>
              <a:rPr lang="en-IN" dirty="0"/>
              <a:t>, vol. 48, no. 7, pp. 95–108, 2024.</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52ADA1C-2AAA-5C81-A225-97A5CED484D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DBB8E4D5-7ED2-63DD-494D-B01112E858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461030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F6E561-6510-0D58-DED3-E911BFFC3A7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4941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TotalTime>
  <Words>1396</Words>
  <Application>Microsoft Office PowerPoint</Application>
  <PresentationFormat>Widescreen</PresentationFormat>
  <Paragraphs>113</Paragraphs>
  <Slides>15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gnaneswari tirumanyam</dc:creator>
  <cp:lastModifiedBy>gnaneswari tirumanyam</cp:lastModifiedBy>
  <cp:revision>14</cp:revision>
  <dcterms:created xsi:type="dcterms:W3CDTF">2026-06-16T02:51:50Z</dcterms:created>
  <dcterms:modified xsi:type="dcterms:W3CDTF">2026-07-25T08:37:36Z</dcterms:modified>
</cp:coreProperties>
</file>